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8"/>
  </p:sldMasterIdLst>
  <p:notesMasterIdLst>
    <p:notesMasterId r:id="rId11"/>
  </p:notesMasterIdLst>
  <p:handoutMasterIdLst>
    <p:handoutMasterId r:id="rId12"/>
  </p:handoutMasterIdLst>
  <p:sldIdLst>
    <p:sldId id="2213" r:id="rId9"/>
    <p:sldId id="2145708164" r:id="rId10"/>
  </p:sldIdLst>
  <p:sldSz cx="12195175" cy="6858000"/>
  <p:notesSz cx="6797675" cy="9928225"/>
  <p:embeddedFontLst>
    <p:embeddedFont>
      <p:font typeface="Arial Unicode MS" panose="020B0604020202020204" charset="-128"/>
      <p:regular r:id="rId13"/>
    </p:embeddedFont>
    <p:embeddedFont>
      <p:font typeface="72 Brand" panose="020B0504030603020204" pitchFamily="34" charset="0"/>
      <p:regular r:id="rId14"/>
      <p:bold r:id="rId15"/>
      <p:italic r:id="rId16"/>
      <p:boldItalic r:id="rId17"/>
    </p:embeddedFont>
    <p:embeddedFont>
      <p:font typeface="72 Brand Medium" panose="020B0604030603020204" pitchFamily="34" charset="0"/>
      <p:regular r:id="rId18"/>
      <p: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3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3E7153-CDCE-4789-8526-0080DF10FA1C}" v="2" dt="2026-04-09T11:43:14.198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3"/>
    <p:restoredTop sz="95982"/>
  </p:normalViewPr>
  <p:slideViewPr>
    <p:cSldViewPr snapToGrid="0">
      <p:cViewPr varScale="1">
        <p:scale>
          <a:sx n="151" d="100"/>
          <a:sy n="151" d="100"/>
        </p:scale>
        <p:origin x="3540" y="354"/>
      </p:cViewPr>
      <p:guideLst>
        <p:guide pos="3841"/>
        <p:guide orient="horz" pos="33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customXml" Target="../customXml/item7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notesMaster" Target="notesMasters/notesMaster1.xml"/><Relationship Id="rId24" Type="http://schemas.openxmlformats.org/officeDocument/2006/relationships/tags" Target="tags/tag1.xml"/><Relationship Id="rId5" Type="http://schemas.openxmlformats.org/officeDocument/2006/relationships/customXml" Target="../customXml/item5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font" Target="fonts/font7.fntdata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cker, Marc" userId="8e335543-a9fa-4ae8-b3a1-5949f1274d0a" providerId="ADAL" clId="{938A88FB-EFAE-4999-8D6F-251D76C160D8}"/>
    <pc:docChg chg="undo custSel modSld">
      <pc:chgData name="Decker, Marc" userId="8e335543-a9fa-4ae8-b3a1-5949f1274d0a" providerId="ADAL" clId="{938A88FB-EFAE-4999-8D6F-251D76C160D8}" dt="2026-04-09T11:44:57.650" v="94" actId="20577"/>
      <pc:docMkLst>
        <pc:docMk/>
      </pc:docMkLst>
      <pc:sldChg chg="modSp mod">
        <pc:chgData name="Decker, Marc" userId="8e335543-a9fa-4ae8-b3a1-5949f1274d0a" providerId="ADAL" clId="{938A88FB-EFAE-4999-8D6F-251D76C160D8}" dt="2026-04-09T11:44:57.650" v="94" actId="20577"/>
        <pc:sldMkLst>
          <pc:docMk/>
          <pc:sldMk cId="4227022214" sldId="2145708164"/>
        </pc:sldMkLst>
        <pc:spChg chg="mod">
          <ac:chgData name="Decker, Marc" userId="8e335543-a9fa-4ae8-b3a1-5949f1274d0a" providerId="ADAL" clId="{938A88FB-EFAE-4999-8D6F-251D76C160D8}" dt="2026-04-09T11:44:57.650" v="94" actId="20577"/>
          <ac:spMkLst>
            <pc:docMk/>
            <pc:sldMk cId="4227022214" sldId="2145708164"/>
            <ac:spMk id="11" creationId="{CC692653-971B-1805-0841-BB1C4A5AC6B7}"/>
          </ac:spMkLst>
        </pc:spChg>
        <pc:spChg chg="mod">
          <ac:chgData name="Decker, Marc" userId="8e335543-a9fa-4ae8-b3a1-5949f1274d0a" providerId="ADAL" clId="{938A88FB-EFAE-4999-8D6F-251D76C160D8}" dt="2026-04-09T11:42:13.677" v="25" actId="20577"/>
          <ac:spMkLst>
            <pc:docMk/>
            <pc:sldMk cId="4227022214" sldId="2145708164"/>
            <ac:spMk id="27" creationId="{C14E2BDA-0FFD-3351-A6DA-4CBA83A643C7}"/>
          </ac:spMkLst>
        </pc:spChg>
        <pc:spChg chg="mod">
          <ac:chgData name="Decker, Marc" userId="8e335543-a9fa-4ae8-b3a1-5949f1274d0a" providerId="ADAL" clId="{938A88FB-EFAE-4999-8D6F-251D76C160D8}" dt="2026-04-09T11:42:29.320" v="30" actId="1076"/>
          <ac:spMkLst>
            <pc:docMk/>
            <pc:sldMk cId="4227022214" sldId="2145708164"/>
            <ac:spMk id="35" creationId="{38A07E43-064F-0872-85A3-BD1343852547}"/>
          </ac:spMkLst>
        </pc:spChg>
        <pc:spChg chg="mod">
          <ac:chgData name="Decker, Marc" userId="8e335543-a9fa-4ae8-b3a1-5949f1274d0a" providerId="ADAL" clId="{938A88FB-EFAE-4999-8D6F-251D76C160D8}" dt="2026-04-09T11:42:59.342" v="47" actId="20577"/>
          <ac:spMkLst>
            <pc:docMk/>
            <pc:sldMk cId="4227022214" sldId="2145708164"/>
            <ac:spMk id="48" creationId="{DF10D9E2-21AB-9395-1770-A867EEA252A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Arial" panose="020B0604020202020204" pitchFamily="34" charset="0"/>
              </a:rPr>
              <a:pPr algn="ctr"/>
              <a:t>‹#›</a:t>
            </a:fld>
            <a:endParaRPr lang="de-DE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" y="665163"/>
            <a:ext cx="6257925" cy="3519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473523"/>
            <a:ext cx="5709333" cy="49549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702084"/>
            <a:ext cx="934681" cy="22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Arial" panose="020B0604020202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8814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479C7-8CA4-CA38-8F12-A3E063D7A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9849F-8873-8AB8-4D65-3F33AE6F7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EE308-976D-AB1A-EB78-47FB258F7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Business AI @ SAP:</a:t>
            </a:r>
            <a:br>
              <a:rPr lang="de-DE" dirty="0"/>
            </a:br>
            <a:r>
              <a:rPr lang="en-US" dirty="0"/>
              <a:t>1. Overall Business AI @ SAP Summary</a:t>
            </a:r>
          </a:p>
          <a:p>
            <a:r>
              <a:rPr lang="en-US" dirty="0"/>
              <a:t>2. Deep Dives per functional Workstream </a:t>
            </a:r>
          </a:p>
          <a:p>
            <a:pPr lvl="1"/>
            <a:r>
              <a:rPr lang="en-US" dirty="0"/>
              <a:t>Corporate Functions (P&amp;C, GFA, etc.)</a:t>
            </a:r>
          </a:p>
          <a:p>
            <a:pPr lvl="1"/>
            <a:r>
              <a:rPr lang="en-US" dirty="0"/>
              <a:t>P&amp;E</a:t>
            </a:r>
          </a:p>
          <a:p>
            <a:pPr lvl="1"/>
            <a:r>
              <a:rPr lang="en-US" dirty="0"/>
              <a:t>GTM (CS, Marketing)</a:t>
            </a:r>
          </a:p>
          <a:p>
            <a:pPr lvl="1"/>
            <a:r>
              <a:rPr lang="en-US" dirty="0"/>
              <a:t>CS&amp;D</a:t>
            </a:r>
          </a:p>
          <a:p>
            <a:r>
              <a:rPr lang="en-US" dirty="0"/>
              <a:t>3. Foundational topics &amp; enablers</a:t>
            </a:r>
          </a:p>
          <a:p>
            <a:r>
              <a:rPr lang="en-US" dirty="0"/>
              <a:t>4. Comms, change, training (pre-read only)</a:t>
            </a:r>
          </a:p>
          <a:p>
            <a:endParaRPr lang="de-DE" dirty="0"/>
          </a:p>
          <a:p>
            <a:r>
              <a:rPr lang="en-US" dirty="0"/>
              <a:t>- die COOs der Functional Areas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ihre</a:t>
            </a:r>
            <a:r>
              <a:rPr lang="en-US" dirty="0"/>
              <a:t> </a:t>
            </a:r>
            <a:r>
              <a:rPr lang="en-US" dirty="0" err="1"/>
              <a:t>Bereiche</a:t>
            </a:r>
            <a:r>
              <a:rPr lang="en-US" dirty="0"/>
              <a:t> </a:t>
            </a:r>
            <a:r>
              <a:rPr lang="en-US" dirty="0" err="1"/>
              <a:t>vorstellen</a:t>
            </a:r>
            <a:r>
              <a:rPr lang="en-US" dirty="0"/>
              <a:t> (Verena, Utkarsh, Dragana) </a:t>
            </a:r>
          </a:p>
          <a:p>
            <a:r>
              <a:rPr lang="en-US" dirty="0"/>
              <a:t>- die </a:t>
            </a:r>
            <a:r>
              <a:rPr lang="en-US" dirty="0" err="1"/>
              <a:t>jeweiligen</a:t>
            </a:r>
            <a:r>
              <a:rPr lang="en-US" dirty="0"/>
              <a:t> CPOs (Manoj, Uma, Dan, Irfan, </a:t>
            </a:r>
            <a:r>
              <a:rPr lang="en-US" dirty="0" err="1"/>
              <a:t>etc</a:t>
            </a:r>
            <a:r>
              <a:rPr lang="en-US" dirty="0"/>
              <a:t>)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eingebunden</a:t>
            </a:r>
            <a:r>
              <a:rPr lang="en-US" dirty="0"/>
              <a:t> und </a:t>
            </a:r>
            <a:r>
              <a:rPr lang="en-US" dirty="0" err="1"/>
              <a:t>verantwortlich</a:t>
            </a:r>
            <a:r>
              <a:rPr lang="en-US" dirty="0"/>
              <a:t> für die '</a:t>
            </a:r>
            <a:r>
              <a:rPr lang="en-US" dirty="0" err="1"/>
              <a:t>Produktbereitstellung</a:t>
            </a:r>
            <a:r>
              <a:rPr lang="en-US" dirty="0"/>
              <a:t>' </a:t>
            </a:r>
          </a:p>
          <a:p>
            <a:r>
              <a:rPr lang="en-US" dirty="0"/>
              <a:t>- die CPIT Leads pro Functional Area (Thorsten J, Pinar D, Thomas H) </a:t>
            </a:r>
            <a:r>
              <a:rPr lang="en-US" dirty="0" err="1"/>
              <a:t>sind</a:t>
            </a:r>
            <a:r>
              <a:rPr lang="en-US" dirty="0"/>
              <a:t> für die </a:t>
            </a:r>
            <a:r>
              <a:rPr lang="en-US" dirty="0" err="1"/>
              <a:t>Umsetzung</a:t>
            </a:r>
            <a:r>
              <a:rPr lang="en-US" dirty="0"/>
              <a:t> </a:t>
            </a:r>
            <a:r>
              <a:rPr lang="en-US" dirty="0" err="1"/>
              <a:t>verantwortlich</a:t>
            </a:r>
            <a:r>
              <a:rPr lang="en-US" dirty="0"/>
              <a:t> pro </a:t>
            </a:r>
            <a:r>
              <a:rPr lang="en-US" dirty="0" err="1"/>
              <a:t>Bereich</a:t>
            </a:r>
            <a:r>
              <a:rPr lang="en-US" dirty="0"/>
              <a:t> und die Resource Requests</a:t>
            </a:r>
          </a:p>
          <a:p>
            <a:r>
              <a:rPr lang="de-DE" dirty="0"/>
              <a:t>- S. Steinle – hat extra Part vom Business Case, der dazu kam und er vorstellen wird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A3942-61AD-7ED5-E308-CE2E65E53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4EAE8-C34D-44C0-8EF2-D94EDB7C25A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90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A10271E-7691-5243-AF1C-8221E507CA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5175" cy="686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03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533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03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1650" y="1557338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8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57338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8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  <p15:guide id="10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57337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7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57338"/>
            <a:ext cx="7092000" cy="47786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78662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5328000" cy="47786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981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57338"/>
            <a:ext cx="11185200" cy="4778662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20825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3274F-1EBD-A73A-AC54-963A234E9E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3291" y="5990000"/>
            <a:ext cx="72705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64" userDrawn="1">
          <p15:clr>
            <a:srgbClr val="FBAE40"/>
          </p15:clr>
        </p15:guide>
        <p15:guide id="2" orient="horz" pos="958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  <p15:guide id="5" orient="horz" pos="4000" userDrawn="1">
          <p15:clr>
            <a:srgbClr val="FBAE40"/>
          </p15:clr>
        </p15:guide>
        <p15:guide id="6" pos="317" userDrawn="1">
          <p15:clr>
            <a:srgbClr val="FBAE40"/>
          </p15:clr>
        </p15:guide>
        <p15:guide id="8" pos="3841" userDrawn="1">
          <p15:clr>
            <a:srgbClr val="FBAE40"/>
          </p15:clr>
        </p15:guide>
        <p15:guide id="9" orient="horz" pos="31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11185200" cy="4716000"/>
          </a:xfrm>
        </p:spPr>
        <p:txBody>
          <a:bodyPr>
            <a:normAutofit/>
          </a:bodyPr>
          <a:lstStyle>
            <a:lvl1pPr marL="0" marR="0" indent="0" algn="l" defTabSz="1088231" rtl="0" eaLnBrk="1" fontAlgn="auto" latinLnBrk="0" hangingPunct="1">
              <a:lnSpc>
                <a:spcPct val="100000"/>
              </a:lnSpc>
              <a:spcBef>
                <a:spcPts val="29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999" b="0"/>
            </a:lvl1pPr>
            <a:lvl2pPr marL="179910" marR="0" indent="-179910" algn="l" defTabSz="108823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 sz="1799"/>
            </a:lvl2pPr>
            <a:lvl3pPr marL="359820" marR="0" indent="-179298" algn="l" defTabSz="1088231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799" baseline="0"/>
            </a:lvl3pPr>
            <a:lvl4pPr marL="539730" marR="0" indent="-179910" algn="l" defTabSz="1088231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E258D3-738A-4509-91D9-33F43586CE94}"/>
              </a:ext>
            </a:extLst>
          </p:cNvPr>
          <p:cNvSpPr txBox="1">
            <a:spLocks/>
          </p:cNvSpPr>
          <p:nvPr userDrawn="1"/>
        </p:nvSpPr>
        <p:spPr bwMode="black">
          <a:xfrm rot="16200000">
            <a:off x="7764930" y="2094177"/>
            <a:ext cx="7621670" cy="184617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08757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788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  <a:alpha val="26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AGENDA.</a:t>
            </a:r>
          </a:p>
        </p:txBody>
      </p:sp>
    </p:spTree>
    <p:extLst>
      <p:ext uri="{BB962C8B-B14F-4D97-AF65-F5344CB8AC3E}">
        <p14:creationId xmlns:p14="http://schemas.microsoft.com/office/powerpoint/2010/main" val="2551009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102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935787346" name="LogoBlue-Dynamic" descr="{&quot;templafy&quot;:{&quot;id&quot;:&quot;ab107e1c-f4cd-4968-9a96-29ce5d778d6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92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2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99.xml"/><Relationship Id="rId21" Type="http://schemas.openxmlformats.org/officeDocument/2006/relationships/tags" Target="../tags/tag3.xml"/><Relationship Id="rId42" Type="http://schemas.openxmlformats.org/officeDocument/2006/relationships/tags" Target="../tags/tag24.xml"/><Relationship Id="rId63" Type="http://schemas.openxmlformats.org/officeDocument/2006/relationships/tags" Target="../tags/tag45.xml"/><Relationship Id="rId84" Type="http://schemas.openxmlformats.org/officeDocument/2006/relationships/tags" Target="../tags/tag66.xml"/><Relationship Id="rId138" Type="http://schemas.openxmlformats.org/officeDocument/2006/relationships/tags" Target="../tags/tag120.xml"/><Relationship Id="rId107" Type="http://schemas.openxmlformats.org/officeDocument/2006/relationships/tags" Target="../tags/tag89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14.xml"/><Relationship Id="rId37" Type="http://schemas.openxmlformats.org/officeDocument/2006/relationships/tags" Target="../tags/tag19.xml"/><Relationship Id="rId53" Type="http://schemas.openxmlformats.org/officeDocument/2006/relationships/tags" Target="../tags/tag35.xml"/><Relationship Id="rId58" Type="http://schemas.openxmlformats.org/officeDocument/2006/relationships/tags" Target="../tags/tag40.xml"/><Relationship Id="rId74" Type="http://schemas.openxmlformats.org/officeDocument/2006/relationships/tags" Target="../tags/tag56.xml"/><Relationship Id="rId79" Type="http://schemas.openxmlformats.org/officeDocument/2006/relationships/tags" Target="../tags/tag61.xml"/><Relationship Id="rId102" Type="http://schemas.openxmlformats.org/officeDocument/2006/relationships/tags" Target="../tags/tag84.xml"/><Relationship Id="rId123" Type="http://schemas.openxmlformats.org/officeDocument/2006/relationships/tags" Target="../tags/tag105.xml"/><Relationship Id="rId128" Type="http://schemas.openxmlformats.org/officeDocument/2006/relationships/tags" Target="../tags/tag110.xml"/><Relationship Id="rId5" Type="http://schemas.openxmlformats.org/officeDocument/2006/relationships/slideLayout" Target="../slideLayouts/slideLayout5.xml"/><Relationship Id="rId90" Type="http://schemas.openxmlformats.org/officeDocument/2006/relationships/tags" Target="../tags/tag72.xml"/><Relationship Id="rId95" Type="http://schemas.openxmlformats.org/officeDocument/2006/relationships/tags" Target="../tags/tag77.xml"/><Relationship Id="rId22" Type="http://schemas.openxmlformats.org/officeDocument/2006/relationships/tags" Target="../tags/tag4.xml"/><Relationship Id="rId27" Type="http://schemas.openxmlformats.org/officeDocument/2006/relationships/tags" Target="../tags/tag9.xml"/><Relationship Id="rId43" Type="http://schemas.openxmlformats.org/officeDocument/2006/relationships/tags" Target="../tags/tag25.xml"/><Relationship Id="rId48" Type="http://schemas.openxmlformats.org/officeDocument/2006/relationships/tags" Target="../tags/tag30.xml"/><Relationship Id="rId64" Type="http://schemas.openxmlformats.org/officeDocument/2006/relationships/tags" Target="../tags/tag46.xml"/><Relationship Id="rId69" Type="http://schemas.openxmlformats.org/officeDocument/2006/relationships/tags" Target="../tags/tag51.xml"/><Relationship Id="rId113" Type="http://schemas.openxmlformats.org/officeDocument/2006/relationships/tags" Target="../tags/tag95.xml"/><Relationship Id="rId118" Type="http://schemas.openxmlformats.org/officeDocument/2006/relationships/tags" Target="../tags/tag100.xml"/><Relationship Id="rId134" Type="http://schemas.openxmlformats.org/officeDocument/2006/relationships/tags" Target="../tags/tag116.xml"/><Relationship Id="rId139" Type="http://schemas.openxmlformats.org/officeDocument/2006/relationships/tags" Target="../tags/tag121.xml"/><Relationship Id="rId80" Type="http://schemas.openxmlformats.org/officeDocument/2006/relationships/tags" Target="../tags/tag62.xml"/><Relationship Id="rId85" Type="http://schemas.openxmlformats.org/officeDocument/2006/relationships/tags" Target="../tags/tag6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15.xml"/><Relationship Id="rId38" Type="http://schemas.openxmlformats.org/officeDocument/2006/relationships/tags" Target="../tags/tag20.xml"/><Relationship Id="rId59" Type="http://schemas.openxmlformats.org/officeDocument/2006/relationships/tags" Target="../tags/tag41.xml"/><Relationship Id="rId103" Type="http://schemas.openxmlformats.org/officeDocument/2006/relationships/tags" Target="../tags/tag85.xml"/><Relationship Id="rId108" Type="http://schemas.openxmlformats.org/officeDocument/2006/relationships/tags" Target="../tags/tag90.xml"/><Relationship Id="rId124" Type="http://schemas.openxmlformats.org/officeDocument/2006/relationships/tags" Target="../tags/tag106.xml"/><Relationship Id="rId129" Type="http://schemas.openxmlformats.org/officeDocument/2006/relationships/tags" Target="../tags/tag111.xml"/><Relationship Id="rId54" Type="http://schemas.openxmlformats.org/officeDocument/2006/relationships/tags" Target="../tags/tag36.xml"/><Relationship Id="rId70" Type="http://schemas.openxmlformats.org/officeDocument/2006/relationships/tags" Target="../tags/tag52.xml"/><Relationship Id="rId75" Type="http://schemas.openxmlformats.org/officeDocument/2006/relationships/tags" Target="../tags/tag57.xml"/><Relationship Id="rId91" Type="http://schemas.openxmlformats.org/officeDocument/2006/relationships/tags" Target="../tags/tag73.xml"/><Relationship Id="rId96" Type="http://schemas.openxmlformats.org/officeDocument/2006/relationships/tags" Target="../tags/tag78.xml"/><Relationship Id="rId140" Type="http://schemas.openxmlformats.org/officeDocument/2006/relationships/tags" Target="../tags/tag12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tags" Target="../tags/tag5.xml"/><Relationship Id="rId28" Type="http://schemas.openxmlformats.org/officeDocument/2006/relationships/tags" Target="../tags/tag10.xml"/><Relationship Id="rId49" Type="http://schemas.openxmlformats.org/officeDocument/2006/relationships/tags" Target="../tags/tag31.xml"/><Relationship Id="rId114" Type="http://schemas.openxmlformats.org/officeDocument/2006/relationships/tags" Target="../tags/tag96.xml"/><Relationship Id="rId119" Type="http://schemas.openxmlformats.org/officeDocument/2006/relationships/tags" Target="../tags/tag101.xml"/><Relationship Id="rId44" Type="http://schemas.openxmlformats.org/officeDocument/2006/relationships/tags" Target="../tags/tag26.xml"/><Relationship Id="rId60" Type="http://schemas.openxmlformats.org/officeDocument/2006/relationships/tags" Target="../tags/tag42.xml"/><Relationship Id="rId65" Type="http://schemas.openxmlformats.org/officeDocument/2006/relationships/tags" Target="../tags/tag47.xml"/><Relationship Id="rId81" Type="http://schemas.openxmlformats.org/officeDocument/2006/relationships/tags" Target="../tags/tag63.xml"/><Relationship Id="rId86" Type="http://schemas.openxmlformats.org/officeDocument/2006/relationships/tags" Target="../tags/tag68.xml"/><Relationship Id="rId130" Type="http://schemas.openxmlformats.org/officeDocument/2006/relationships/tags" Target="../tags/tag112.xml"/><Relationship Id="rId135" Type="http://schemas.openxmlformats.org/officeDocument/2006/relationships/tags" Target="../tags/tag117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21.xml"/><Relationship Id="rId109" Type="http://schemas.openxmlformats.org/officeDocument/2006/relationships/tags" Target="../tags/tag91.xml"/><Relationship Id="rId34" Type="http://schemas.openxmlformats.org/officeDocument/2006/relationships/tags" Target="../tags/tag16.xml"/><Relationship Id="rId50" Type="http://schemas.openxmlformats.org/officeDocument/2006/relationships/tags" Target="../tags/tag32.xml"/><Relationship Id="rId55" Type="http://schemas.openxmlformats.org/officeDocument/2006/relationships/tags" Target="../tags/tag37.xml"/><Relationship Id="rId76" Type="http://schemas.openxmlformats.org/officeDocument/2006/relationships/tags" Target="../tags/tag58.xml"/><Relationship Id="rId97" Type="http://schemas.openxmlformats.org/officeDocument/2006/relationships/tags" Target="../tags/tag79.xml"/><Relationship Id="rId104" Type="http://schemas.openxmlformats.org/officeDocument/2006/relationships/tags" Target="../tags/tag86.xml"/><Relationship Id="rId120" Type="http://schemas.openxmlformats.org/officeDocument/2006/relationships/tags" Target="../tags/tag102.xml"/><Relationship Id="rId125" Type="http://schemas.openxmlformats.org/officeDocument/2006/relationships/tags" Target="../tags/tag107.xml"/><Relationship Id="rId141" Type="http://schemas.openxmlformats.org/officeDocument/2006/relationships/tags" Target="../tags/tag123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53.xml"/><Relationship Id="rId92" Type="http://schemas.openxmlformats.org/officeDocument/2006/relationships/tags" Target="../tags/tag74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11.xml"/><Relationship Id="rId24" Type="http://schemas.openxmlformats.org/officeDocument/2006/relationships/tags" Target="../tags/tag6.xml"/><Relationship Id="rId40" Type="http://schemas.openxmlformats.org/officeDocument/2006/relationships/tags" Target="../tags/tag22.xml"/><Relationship Id="rId45" Type="http://schemas.openxmlformats.org/officeDocument/2006/relationships/tags" Target="../tags/tag27.xml"/><Relationship Id="rId66" Type="http://schemas.openxmlformats.org/officeDocument/2006/relationships/tags" Target="../tags/tag48.xml"/><Relationship Id="rId87" Type="http://schemas.openxmlformats.org/officeDocument/2006/relationships/tags" Target="../tags/tag69.xml"/><Relationship Id="rId110" Type="http://schemas.openxmlformats.org/officeDocument/2006/relationships/tags" Target="../tags/tag92.xml"/><Relationship Id="rId115" Type="http://schemas.openxmlformats.org/officeDocument/2006/relationships/tags" Target="../tags/tag97.xml"/><Relationship Id="rId131" Type="http://schemas.openxmlformats.org/officeDocument/2006/relationships/tags" Target="../tags/tag113.xml"/><Relationship Id="rId136" Type="http://schemas.openxmlformats.org/officeDocument/2006/relationships/tags" Target="../tags/tag118.xml"/><Relationship Id="rId61" Type="http://schemas.openxmlformats.org/officeDocument/2006/relationships/tags" Target="../tags/tag43.xml"/><Relationship Id="rId82" Type="http://schemas.openxmlformats.org/officeDocument/2006/relationships/tags" Target="../tags/tag64.xml"/><Relationship Id="rId19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0" Type="http://schemas.openxmlformats.org/officeDocument/2006/relationships/tags" Target="../tags/tag12.xml"/><Relationship Id="rId35" Type="http://schemas.openxmlformats.org/officeDocument/2006/relationships/tags" Target="../tags/tag17.xml"/><Relationship Id="rId56" Type="http://schemas.openxmlformats.org/officeDocument/2006/relationships/tags" Target="../tags/tag38.xml"/><Relationship Id="rId77" Type="http://schemas.openxmlformats.org/officeDocument/2006/relationships/tags" Target="../tags/tag59.xml"/><Relationship Id="rId100" Type="http://schemas.openxmlformats.org/officeDocument/2006/relationships/tags" Target="../tags/tag82.xml"/><Relationship Id="rId105" Type="http://schemas.openxmlformats.org/officeDocument/2006/relationships/tags" Target="../tags/tag87.xml"/><Relationship Id="rId126" Type="http://schemas.openxmlformats.org/officeDocument/2006/relationships/tags" Target="../tags/tag10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3.xml"/><Relationship Id="rId72" Type="http://schemas.openxmlformats.org/officeDocument/2006/relationships/tags" Target="../tags/tag54.xml"/><Relationship Id="rId93" Type="http://schemas.openxmlformats.org/officeDocument/2006/relationships/tags" Target="../tags/tag75.xml"/><Relationship Id="rId98" Type="http://schemas.openxmlformats.org/officeDocument/2006/relationships/tags" Target="../tags/tag80.xml"/><Relationship Id="rId121" Type="http://schemas.openxmlformats.org/officeDocument/2006/relationships/tags" Target="../tags/tag103.xml"/><Relationship Id="rId142" Type="http://schemas.openxmlformats.org/officeDocument/2006/relationships/tags" Target="../tags/tag124.xml"/><Relationship Id="rId3" Type="http://schemas.openxmlformats.org/officeDocument/2006/relationships/slideLayout" Target="../slideLayouts/slideLayout3.xml"/><Relationship Id="rId25" Type="http://schemas.openxmlformats.org/officeDocument/2006/relationships/tags" Target="../tags/tag7.xml"/><Relationship Id="rId46" Type="http://schemas.openxmlformats.org/officeDocument/2006/relationships/tags" Target="../tags/tag28.xml"/><Relationship Id="rId67" Type="http://schemas.openxmlformats.org/officeDocument/2006/relationships/tags" Target="../tags/tag49.xml"/><Relationship Id="rId116" Type="http://schemas.openxmlformats.org/officeDocument/2006/relationships/tags" Target="../tags/tag98.xml"/><Relationship Id="rId137" Type="http://schemas.openxmlformats.org/officeDocument/2006/relationships/tags" Target="../tags/tag119.xml"/><Relationship Id="rId20" Type="http://schemas.openxmlformats.org/officeDocument/2006/relationships/tags" Target="../tags/tag2.xml"/><Relationship Id="rId41" Type="http://schemas.openxmlformats.org/officeDocument/2006/relationships/tags" Target="../tags/tag23.xml"/><Relationship Id="rId62" Type="http://schemas.openxmlformats.org/officeDocument/2006/relationships/tags" Target="../tags/tag44.xml"/><Relationship Id="rId83" Type="http://schemas.openxmlformats.org/officeDocument/2006/relationships/tags" Target="../tags/tag65.xml"/><Relationship Id="rId88" Type="http://schemas.openxmlformats.org/officeDocument/2006/relationships/tags" Target="../tags/tag70.xml"/><Relationship Id="rId111" Type="http://schemas.openxmlformats.org/officeDocument/2006/relationships/tags" Target="../tags/tag93.xml"/><Relationship Id="rId132" Type="http://schemas.openxmlformats.org/officeDocument/2006/relationships/tags" Target="../tags/tag114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18.xml"/><Relationship Id="rId57" Type="http://schemas.openxmlformats.org/officeDocument/2006/relationships/tags" Target="../tags/tag39.xml"/><Relationship Id="rId106" Type="http://schemas.openxmlformats.org/officeDocument/2006/relationships/tags" Target="../tags/tag88.xml"/><Relationship Id="rId127" Type="http://schemas.openxmlformats.org/officeDocument/2006/relationships/tags" Target="../tags/tag109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3.xml"/><Relationship Id="rId52" Type="http://schemas.openxmlformats.org/officeDocument/2006/relationships/tags" Target="../tags/tag34.xml"/><Relationship Id="rId73" Type="http://schemas.openxmlformats.org/officeDocument/2006/relationships/tags" Target="../tags/tag55.xml"/><Relationship Id="rId78" Type="http://schemas.openxmlformats.org/officeDocument/2006/relationships/tags" Target="../tags/tag60.xml"/><Relationship Id="rId94" Type="http://schemas.openxmlformats.org/officeDocument/2006/relationships/tags" Target="../tags/tag76.xml"/><Relationship Id="rId99" Type="http://schemas.openxmlformats.org/officeDocument/2006/relationships/tags" Target="../tags/tag81.xml"/><Relationship Id="rId101" Type="http://schemas.openxmlformats.org/officeDocument/2006/relationships/tags" Target="../tags/tag83.xml"/><Relationship Id="rId122" Type="http://schemas.openxmlformats.org/officeDocument/2006/relationships/tags" Target="../tags/tag10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ags" Target="../tags/tag8.xml"/><Relationship Id="rId47" Type="http://schemas.openxmlformats.org/officeDocument/2006/relationships/tags" Target="../tags/tag29.xml"/><Relationship Id="rId68" Type="http://schemas.openxmlformats.org/officeDocument/2006/relationships/tags" Target="../tags/tag50.xml"/><Relationship Id="rId89" Type="http://schemas.openxmlformats.org/officeDocument/2006/relationships/tags" Target="../tags/tag71.xml"/><Relationship Id="rId112" Type="http://schemas.openxmlformats.org/officeDocument/2006/relationships/tags" Target="../tags/tag94.xml"/><Relationship Id="rId133" Type="http://schemas.openxmlformats.org/officeDocument/2006/relationships/tags" Target="../tags/tag115.xml"/><Relationship Id="rId16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0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1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2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23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71105" y="896931"/>
            <a:ext cx="2124070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Responsible: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&lt;date&gt;yyyy-MM-dd hh:mm&lt;/date&gt;: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&lt;date&gt;yyyy-MM-dd hh:mm&lt;/date&gt;: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7" r:id="rId2"/>
    <p:sldLayoutId id="2147483786" r:id="rId3"/>
    <p:sldLayoutId id="2147483743" r:id="rId4"/>
    <p:sldLayoutId id="2147483774" r:id="rId5"/>
    <p:sldLayoutId id="2147483745" r:id="rId6"/>
    <p:sldLayoutId id="2147483760" r:id="rId7"/>
    <p:sldLayoutId id="2147483768" r:id="rId8"/>
    <p:sldLayoutId id="2147483769" r:id="rId9"/>
    <p:sldLayoutId id="2147483770" r:id="rId10"/>
    <p:sldLayoutId id="2147483757" r:id="rId11"/>
    <p:sldLayoutId id="2147483771" r:id="rId12"/>
    <p:sldLayoutId id="2147483763" r:id="rId13"/>
    <p:sldLayoutId id="2147483751" r:id="rId14"/>
    <p:sldLayoutId id="2147483756" r:id="rId15"/>
    <p:sldLayoutId id="2147483740" r:id="rId16"/>
    <p:sldLayoutId id="2147483787" r:id="rId17"/>
    <p:sldLayoutId id="2147483788" r:id="rId18"/>
  </p:sldLayoutIdLst>
  <p:hf sldNum="0"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Roboto" panose="02000000000000000000" pitchFamily="2" charset="0"/>
        <a:buChar char="​"/>
        <a:defRPr sz="20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ap.sharepoint.com/sites/124770/Shared%20Documents/BoardGov-Prep/01_BoardGov_Team/01_Planning_Board_Meetings/EXECUTIVE_BOARD_2024/04_19_Board_Meeting/1_Agenda%20and%20Pre-Read/2_Presentation_Cloud_ERP_Suite_for_Internal_Steering_BM20240419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- Dynamic" descr="{&quot;templafy&quot;:{&quot;id&quot;:&quot;daffa6c7-0815-448a-9ef7-fac01dbad036&quot;}}">
            <a:extLst>
              <a:ext uri="{FF2B5EF4-FFF2-40B4-BE49-F238E27FC236}">
                <a16:creationId xmlns:a16="http://schemas.microsoft.com/office/drawing/2014/main" id="{034F2C14-B9F9-6C39-B886-34FA958AB565}"/>
              </a:ext>
            </a:extLst>
          </p:cNvPr>
          <p:cNvSpPr txBox="1">
            <a:spLocks/>
          </p:cNvSpPr>
          <p:nvPr/>
        </p:nvSpPr>
        <p:spPr>
          <a:xfrm>
            <a:off x="530366" y="4537765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endParaRPr lang="en-US" sz="1400">
              <a:solidFill>
                <a:schemeClr val="bg1"/>
              </a:solidFill>
              <a:latin typeface="72 Brand" panose="020B0504030603020204" pitchFamily="34" charset="0"/>
              <a:cs typeface="72" panose="020B05030300000000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6204B03-B1FB-1E82-EAA5-ECF68E37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70" y="2171483"/>
            <a:ext cx="4765449" cy="997196"/>
          </a:xfrm>
        </p:spPr>
        <p:txBody>
          <a:bodyPr/>
          <a:lstStyle/>
          <a:p>
            <a:r>
              <a:rPr lang="en-US" dirty="0"/>
              <a:t>Agenda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26650-00A2-FE76-58FA-FC7806CCD217}"/>
              </a:ext>
            </a:extLst>
          </p:cNvPr>
          <p:cNvSpPr/>
          <p:nvPr/>
        </p:nvSpPr>
        <p:spPr bwMode="gray">
          <a:xfrm>
            <a:off x="5964494" y="0"/>
            <a:ext cx="6230682" cy="6858000"/>
          </a:xfrm>
          <a:prstGeom prst="rect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93588D5-B955-B957-C928-A5775F531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4855" r="57562"/>
          <a:stretch/>
        </p:blipFill>
        <p:spPr>
          <a:xfrm>
            <a:off x="6032784" y="158955"/>
            <a:ext cx="6084603" cy="6538069"/>
          </a:xfrm>
          <a:prstGeom prst="rect">
            <a:avLst/>
          </a:prstGeom>
        </p:spPr>
      </p:pic>
      <p:sp>
        <p:nvSpPr>
          <p:cNvPr id="2" name="Title 23">
            <a:extLst>
              <a:ext uri="{FF2B5EF4-FFF2-40B4-BE49-F238E27FC236}">
                <a16:creationId xmlns:a16="http://schemas.microsoft.com/office/drawing/2014/main" id="{C7528DEE-921D-63C4-0B0A-A5E5FAF6C1B0}"/>
              </a:ext>
            </a:extLst>
          </p:cNvPr>
          <p:cNvSpPr txBox="1">
            <a:spLocks/>
          </p:cNvSpPr>
          <p:nvPr/>
        </p:nvSpPr>
        <p:spPr bwMode="black">
          <a:xfrm>
            <a:off x="344470" y="3705210"/>
            <a:ext cx="6933459" cy="99693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10885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baseline="0">
                <a:solidFill>
                  <a:schemeClr val="bg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/>
                </a:solidFill>
              </a:rPr>
              <a:t>SAP Executive Board Meeting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kern="0" dirty="0">
                <a:solidFill>
                  <a:schemeClr val="tx1"/>
                </a:solidFill>
                <a:ea typeface="Arial Unicode MS" pitchFamily="34" charset="-128"/>
              </a:rPr>
              <a:t>January 16, 2026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00939155-687C-CC48-8546-AB2B564390B8}"/>
              </a:ext>
            </a:extLst>
          </p:cNvPr>
          <p:cNvSpPr txBox="1"/>
          <p:nvPr/>
        </p:nvSpPr>
        <p:spPr>
          <a:xfrm>
            <a:off x="344470" y="4886423"/>
            <a:ext cx="56200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6938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>
                <a:tab pos="1704975" algn="l"/>
              </a:tabLst>
            </a:pPr>
            <a:r>
              <a:rPr lang="en-US" sz="1600" b="1" kern="0" dirty="0">
                <a:ea typeface="Arial Unicode MS" pitchFamily="34" charset="-128"/>
                <a:cs typeface="Arial Unicode MS" pitchFamily="34" charset="-128"/>
              </a:rPr>
              <a:t>SAP Executive Board </a:t>
            </a:r>
          </a:p>
          <a:p>
            <a:pPr defTabSz="896938" fontAlgn="base">
              <a:spcAft>
                <a:spcPct val="0"/>
              </a:spcAft>
              <a:buClr>
                <a:srgbClr val="F0AB00"/>
              </a:buClr>
              <a:buSzPct val="80000"/>
              <a:tabLst>
                <a:tab pos="1704975" algn="l"/>
              </a:tabLst>
            </a:pPr>
            <a:r>
              <a:rPr lang="en-US" sz="1600" kern="0" dirty="0">
                <a:ea typeface="Arial Unicode MS" pitchFamily="34" charset="-128"/>
              </a:rPr>
              <a:t>Christian Klein, Gina Vargiu-Breuer, </a:t>
            </a:r>
            <a:r>
              <a:rPr lang="en-US" sz="1600" kern="0" dirty="0">
                <a:ea typeface="Arial Unicode MS" pitchFamily="34" charset="-128"/>
                <a:cs typeface="Arial Unicode MS" pitchFamily="34" charset="-128"/>
              </a:rPr>
              <a:t>Muhammad Alam, </a:t>
            </a:r>
          </a:p>
          <a:p>
            <a:pPr defTabSz="896938" fontAlgn="base">
              <a:spcAft>
                <a:spcPct val="0"/>
              </a:spcAft>
              <a:buClr>
                <a:srgbClr val="F0AB00"/>
              </a:buClr>
              <a:buSzPct val="80000"/>
              <a:tabLst>
                <a:tab pos="1704975" algn="l"/>
              </a:tabLst>
            </a:pPr>
            <a:r>
              <a:rPr lang="en-US" sz="1600" kern="0" dirty="0">
                <a:ea typeface="Arial Unicode MS" pitchFamily="34" charset="-128"/>
              </a:rPr>
              <a:t>Dominik Asam, </a:t>
            </a:r>
            <a:r>
              <a:rPr lang="en-US" sz="1600" kern="0" dirty="0">
                <a:ea typeface="Arial Unicode MS" pitchFamily="34" charset="-128"/>
                <a:cs typeface="Arial Unicode MS" pitchFamily="34" charset="-128"/>
              </a:rPr>
              <a:t>Thomas Saueressig, Sebastian Steinhaeuser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0141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9095-39D5-CE6D-EE79-9221248A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>
            <a:extLst>
              <a:ext uri="{FF2B5EF4-FFF2-40B4-BE49-F238E27FC236}">
                <a16:creationId xmlns:a16="http://schemas.microsoft.com/office/drawing/2014/main" id="{1B0F1D51-A8CB-4944-A1F4-F05DD1D9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58" y="490359"/>
            <a:ext cx="8521508" cy="3642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+mn-lt"/>
                <a:ea typeface="+mn-ea"/>
                <a:cs typeface="72" panose="020B0503030000000003" pitchFamily="34" charset="0"/>
              </a:rPr>
              <a:t>SAP Executive Board Meeting </a:t>
            </a:r>
            <a:r>
              <a:rPr lang="en-US" sz="1800" dirty="0">
                <a:ln w="3175">
                  <a:noFill/>
                </a:ln>
                <a:latin typeface="+mn-lt"/>
                <a:ea typeface="+mn-ea"/>
                <a:cs typeface="72" panose="020B0503030000000003" pitchFamily="34" charset="0"/>
              </a:rPr>
              <a:t>| January 16</a:t>
            </a:r>
            <a:r>
              <a:rPr lang="en-US" sz="1800" kern="0" dirty="0">
                <a:latin typeface="+mn-lt"/>
                <a:ea typeface="+mn-ea"/>
              </a:rPr>
              <a:t>, 2026</a:t>
            </a:r>
            <a:endParaRPr lang="en-US" sz="1600" dirty="0">
              <a:solidFill>
                <a:schemeClr val="accent1"/>
              </a:solidFill>
              <a:latin typeface="+mn-lt"/>
              <a:ea typeface="+mn-ea"/>
              <a:cs typeface="72" panose="020B05030300000000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11EB35-8631-0DBE-3A1A-B63CA449CD91}"/>
              </a:ext>
            </a:extLst>
          </p:cNvPr>
          <p:cNvSpPr txBox="1"/>
          <p:nvPr/>
        </p:nvSpPr>
        <p:spPr>
          <a:xfrm>
            <a:off x="281252" y="1278215"/>
            <a:ext cx="63453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>
                <a:latin typeface="+mn-lt"/>
                <a:cs typeface="72" panose="020B0503030000000003" pitchFamily="34" charset="0"/>
              </a:rPr>
              <a:t>Time CET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26DA08-1213-8EE1-2E36-262498B450F0}"/>
              </a:ext>
            </a:extLst>
          </p:cNvPr>
          <p:cNvSpPr txBox="1"/>
          <p:nvPr/>
        </p:nvSpPr>
        <p:spPr>
          <a:xfrm>
            <a:off x="1913058" y="1278215"/>
            <a:ext cx="9794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>
                <a:latin typeface="+mn-lt"/>
                <a:cs typeface="72" panose="020B0503030000000003" pitchFamily="34" charset="0"/>
              </a:rPr>
              <a:t>Topic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84D834-1327-4369-3B96-DA2407F49ECC}"/>
              </a:ext>
            </a:extLst>
          </p:cNvPr>
          <p:cNvSpPr txBox="1"/>
          <p:nvPr/>
        </p:nvSpPr>
        <p:spPr>
          <a:xfrm>
            <a:off x="5069912" y="1278215"/>
            <a:ext cx="85293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>
                <a:latin typeface="+mn-lt"/>
                <a:cs typeface="72" panose="020B0503030000000003" pitchFamily="34" charset="0"/>
              </a:rPr>
              <a:t>Board member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13C293-7F86-5CD3-4514-5C80D937EB49}"/>
              </a:ext>
            </a:extLst>
          </p:cNvPr>
          <p:cNvSpPr txBox="1"/>
          <p:nvPr/>
        </p:nvSpPr>
        <p:spPr>
          <a:xfrm>
            <a:off x="8387577" y="1270400"/>
            <a:ext cx="9794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 u="sng">
                <a:latin typeface="+mn-lt"/>
                <a:cs typeface="72" panose="020B0503030000000003" pitchFamily="34" charset="0"/>
              </a:rPr>
              <a:t>Lead</a:t>
            </a:r>
            <a:r>
              <a:rPr lang="en-US" altLang="ja-JP" sz="900">
                <a:latin typeface="+mn-lt"/>
                <a:cs typeface="72" panose="020B0503030000000003" pitchFamily="34" charset="0"/>
              </a:rPr>
              <a:t>, guest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CA9D4E52-2BEF-C39A-AD02-5AB682E33103}"/>
              </a:ext>
            </a:extLst>
          </p:cNvPr>
          <p:cNvSpPr txBox="1">
            <a:spLocks/>
          </p:cNvSpPr>
          <p:nvPr/>
        </p:nvSpPr>
        <p:spPr>
          <a:xfrm>
            <a:off x="1913058" y="1594336"/>
            <a:ext cx="2810385" cy="21913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 defTabSz="913852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Opening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4752D4-4744-BD2E-3F9B-AEB4969D7261}"/>
              </a:ext>
            </a:extLst>
          </p:cNvPr>
          <p:cNvSpPr txBox="1"/>
          <p:nvPr/>
        </p:nvSpPr>
        <p:spPr>
          <a:xfrm>
            <a:off x="5069912" y="1594336"/>
            <a:ext cx="156562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Christian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D99525-9BA9-0D7E-6DB9-3AAC9137D252}"/>
              </a:ext>
            </a:extLst>
          </p:cNvPr>
          <p:cNvSpPr txBox="1"/>
          <p:nvPr/>
        </p:nvSpPr>
        <p:spPr>
          <a:xfrm>
            <a:off x="281252" y="1594336"/>
            <a:ext cx="63453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2:30 pm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C08E91-A291-28CD-CE73-24D7CB00845C}"/>
              </a:ext>
            </a:extLst>
          </p:cNvPr>
          <p:cNvSpPr txBox="1"/>
          <p:nvPr/>
        </p:nvSpPr>
        <p:spPr>
          <a:xfrm>
            <a:off x="997039" y="1600548"/>
            <a:ext cx="46666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 5 min</a:t>
            </a:r>
            <a:endParaRPr lang="en-DE" sz="1200" kern="0">
              <a:latin typeface="+mn-lt"/>
              <a:cs typeface="Arial Unicode MS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764C51-37DE-58A0-5148-36F21C69469A}"/>
              </a:ext>
            </a:extLst>
          </p:cNvPr>
          <p:cNvSpPr txBox="1"/>
          <p:nvPr/>
        </p:nvSpPr>
        <p:spPr>
          <a:xfrm>
            <a:off x="281252" y="2890360"/>
            <a:ext cx="64157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3:00 pm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04F539-EEEC-84D4-BB30-5C32CAC3E5A2}"/>
              </a:ext>
            </a:extLst>
          </p:cNvPr>
          <p:cNvCxnSpPr>
            <a:cxnSpLocks/>
          </p:cNvCxnSpPr>
          <p:nvPr/>
        </p:nvCxnSpPr>
        <p:spPr>
          <a:xfrm>
            <a:off x="162718" y="1910073"/>
            <a:ext cx="10728000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070F2">
                    <a:lumMod val="5000"/>
                    <a:lumOff val="95000"/>
                  </a:srgbClr>
                </a:gs>
                <a:gs pos="86000">
                  <a:srgbClr val="D5DADD"/>
                </a:gs>
                <a:gs pos="16000">
                  <a:srgbClr val="D5DADD"/>
                </a:gs>
                <a:gs pos="100000">
                  <a:srgbClr val="FFFFFF"/>
                </a:gs>
              </a:gsLst>
              <a:lin ang="0" scaled="1"/>
              <a:tileRect/>
            </a:gra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43737BD-6B91-990F-5742-80D3D2D65575}"/>
              </a:ext>
            </a:extLst>
          </p:cNvPr>
          <p:cNvSpPr txBox="1"/>
          <p:nvPr/>
        </p:nvSpPr>
        <p:spPr>
          <a:xfrm>
            <a:off x="281252" y="4133977"/>
            <a:ext cx="6031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4:00 pm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66B56E-817E-166A-68DD-50397E97201E}"/>
              </a:ext>
            </a:extLst>
          </p:cNvPr>
          <p:cNvSpPr txBox="1"/>
          <p:nvPr/>
        </p:nvSpPr>
        <p:spPr>
          <a:xfrm>
            <a:off x="214597" y="4300583"/>
            <a:ext cx="6311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-</a:t>
            </a:r>
            <a:r>
              <a:rPr lang="en-US" altLang="en-US" sz="1200" b="1" dirty="0">
                <a:latin typeface="+mn-lt"/>
                <a:cs typeface="72" panose="020B0503030000000003" pitchFamily="34" charset="0"/>
              </a:rPr>
              <a:t>4:30 pm</a:t>
            </a:r>
          </a:p>
        </p:txBody>
      </p:sp>
      <p:sp>
        <p:nvSpPr>
          <p:cNvPr id="41" name="TextBox 14">
            <a:hlinkClick r:id="rId3"/>
            <a:extLst>
              <a:ext uri="{FF2B5EF4-FFF2-40B4-BE49-F238E27FC236}">
                <a16:creationId xmlns:a16="http://schemas.microsoft.com/office/drawing/2014/main" id="{16180B60-9B57-9B78-3367-DD785CA61DAE}"/>
              </a:ext>
            </a:extLst>
          </p:cNvPr>
          <p:cNvSpPr txBox="1">
            <a:spLocks/>
          </p:cNvSpPr>
          <p:nvPr/>
        </p:nvSpPr>
        <p:spPr>
          <a:xfrm>
            <a:off x="1913058" y="4133976"/>
            <a:ext cx="3876174" cy="78786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72" panose="020B0503030000000003" pitchFamily="34" charset="0"/>
              </a:rPr>
              <a:t>Board only</a:t>
            </a:r>
            <a:endParaRPr lang="en-GB" sz="1200" dirty="0">
              <a:latin typeface="+mn-lt"/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Any additional topics</a:t>
            </a:r>
            <a:endParaRPr lang="en-US" sz="1200" b="1" dirty="0">
              <a:latin typeface="+mn-lt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E6478B8A-FA3E-01D0-A59B-3F4931E16FB6}"/>
              </a:ext>
            </a:extLst>
          </p:cNvPr>
          <p:cNvSpPr txBox="1"/>
          <p:nvPr/>
        </p:nvSpPr>
        <p:spPr>
          <a:xfrm>
            <a:off x="918966" y="4133977"/>
            <a:ext cx="54473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fontAlgn="base"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30 min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7B1B6-164F-DB2E-F342-C438EC954403}"/>
              </a:ext>
            </a:extLst>
          </p:cNvPr>
          <p:cNvSpPr txBox="1"/>
          <p:nvPr/>
        </p:nvSpPr>
        <p:spPr>
          <a:xfrm>
            <a:off x="3443955" y="-81185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1800" kern="0">
              <a:latin typeface="+mn-lt"/>
              <a:cs typeface="Arial Unicode MS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5D3EC-A38A-764A-5101-259B32A2113C}"/>
              </a:ext>
            </a:extLst>
          </p:cNvPr>
          <p:cNvSpPr txBox="1"/>
          <p:nvPr/>
        </p:nvSpPr>
        <p:spPr>
          <a:xfrm>
            <a:off x="6775485" y="1277834"/>
            <a:ext cx="85293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altLang="ja-JP" sz="900">
                <a:latin typeface="+mn-lt"/>
                <a:cs typeface="72" panose="020B0503030000000003" pitchFamily="34" charset="0"/>
              </a:rPr>
              <a:t>X-Board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A5F77-8FC0-B3EA-ED59-F0AA53716773}"/>
              </a:ext>
            </a:extLst>
          </p:cNvPr>
          <p:cNvSpPr txBox="1"/>
          <p:nvPr/>
        </p:nvSpPr>
        <p:spPr>
          <a:xfrm>
            <a:off x="457200" y="-35269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1800" kern="0">
              <a:latin typeface="+mn-lt"/>
              <a:cs typeface="Arial Unicode MS" pitchFamily="34" charset="-128"/>
            </a:endParaRPr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C21BDB0D-D4DC-A515-3CB4-22EA46FE59B8}"/>
              </a:ext>
            </a:extLst>
          </p:cNvPr>
          <p:cNvSpPr txBox="1"/>
          <p:nvPr/>
        </p:nvSpPr>
        <p:spPr>
          <a:xfrm>
            <a:off x="1592126" y="1932221"/>
            <a:ext cx="1790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gradFill>
                  <a:gsLst>
                    <a:gs pos="0">
                      <a:srgbClr val="0070F2"/>
                    </a:gs>
                    <a:gs pos="100000">
                      <a:srgbClr val="0070F2">
                        <a:lumMod val="75000"/>
                      </a:srgbClr>
                    </a:gs>
                  </a:gsLst>
                  <a:lin ang="0" scaled="1"/>
                </a:gradFill>
                <a:latin typeface="+mn-lt"/>
                <a:cs typeface="72" panose="020B0503030000000003" pitchFamily="34" charset="0"/>
              </a:rPr>
              <a:t>1</a:t>
            </a:r>
          </a:p>
        </p:txBody>
      </p:sp>
      <p:sp>
        <p:nvSpPr>
          <p:cNvPr id="40" name="TextBox 28">
            <a:extLst>
              <a:ext uri="{FF2B5EF4-FFF2-40B4-BE49-F238E27FC236}">
                <a16:creationId xmlns:a16="http://schemas.microsoft.com/office/drawing/2014/main" id="{28D29066-D378-643D-FD3C-A8CB4A67C897}"/>
              </a:ext>
            </a:extLst>
          </p:cNvPr>
          <p:cNvSpPr txBox="1"/>
          <p:nvPr/>
        </p:nvSpPr>
        <p:spPr>
          <a:xfrm>
            <a:off x="997038" y="2890360"/>
            <a:ext cx="4666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60 min</a:t>
            </a:r>
            <a:endParaRPr lang="en-DE" sz="1200" kern="0">
              <a:latin typeface="+mn-lt"/>
              <a:cs typeface="Arial Unicode MS" pitchFamily="34" charset="-128"/>
            </a:endParaRP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2E9F1081-157F-9598-B752-2149A744F310}"/>
              </a:ext>
            </a:extLst>
          </p:cNvPr>
          <p:cNvSpPr txBox="1">
            <a:spLocks/>
          </p:cNvSpPr>
          <p:nvPr/>
        </p:nvSpPr>
        <p:spPr>
          <a:xfrm>
            <a:off x="1907664" y="2874138"/>
            <a:ext cx="3405414" cy="84747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gradFill>
                  <a:gsLst>
                    <a:gs pos="0">
                      <a:srgbClr val="0070F2"/>
                    </a:gs>
                    <a:gs pos="100000">
                      <a:srgbClr val="0070F2">
                        <a:lumMod val="75000"/>
                      </a:srgbClr>
                    </a:gs>
                  </a:gsLst>
                  <a:lin ang="0" scaled="1"/>
                </a:gradFill>
                <a:latin typeface="+mn-lt"/>
                <a:cs typeface="72" panose="020B0503030000000003" pitchFamily="34" charset="0"/>
              </a:rPr>
              <a:t>Business AI @ SAP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+mn-lt"/>
                <a:cs typeface="72" panose="020B0503030000000003" pitchFamily="34" charset="0"/>
              </a:rPr>
              <a:t>Overall Summary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  <a:cs typeface="72" panose="020B0503030000000003" pitchFamily="34" charset="0"/>
              </a:rPr>
              <a:t>Deep dives per functional workstream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  <a:cs typeface="72" panose="020B0503030000000003" pitchFamily="34" charset="0"/>
              </a:rPr>
              <a:t>Foundational topics &amp; enablers</a:t>
            </a:r>
          </a:p>
        </p:txBody>
      </p:sp>
      <p:sp>
        <p:nvSpPr>
          <p:cNvPr id="44" name="TextBox 14">
            <a:extLst>
              <a:ext uri="{FF2B5EF4-FFF2-40B4-BE49-F238E27FC236}">
                <a16:creationId xmlns:a16="http://schemas.microsoft.com/office/drawing/2014/main" id="{1759F719-591A-3F45-9669-6E5463DB7FFF}"/>
              </a:ext>
            </a:extLst>
          </p:cNvPr>
          <p:cNvSpPr txBox="1"/>
          <p:nvPr/>
        </p:nvSpPr>
        <p:spPr>
          <a:xfrm>
            <a:off x="5064518" y="2883032"/>
            <a:ext cx="166369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Sebastian, Gina</a:t>
            </a: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52D53541-B35C-F532-2E7A-F3A0E93C7F25}"/>
              </a:ext>
            </a:extLst>
          </p:cNvPr>
          <p:cNvSpPr txBox="1"/>
          <p:nvPr/>
        </p:nvSpPr>
        <p:spPr>
          <a:xfrm>
            <a:off x="5064518" y="4173427"/>
            <a:ext cx="1764259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>
                <a:latin typeface="+mn-lt"/>
                <a:cs typeface="72" panose="020B0503030000000003" pitchFamily="34" charset="0"/>
              </a:rPr>
              <a:t>All Board members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C692653-971B-1805-0841-BB1C4A5AC6B7}"/>
              </a:ext>
            </a:extLst>
          </p:cNvPr>
          <p:cNvSpPr txBox="1"/>
          <p:nvPr/>
        </p:nvSpPr>
        <p:spPr>
          <a:xfrm>
            <a:off x="8387576" y="2879971"/>
            <a:ext cx="2587721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cs typeface="72" panose="020B0503030000000003" pitchFamily="34" charset="0"/>
              </a:rPr>
              <a:t>ga, </a:t>
            </a:r>
            <a:r>
              <a:rPr lang="en-US" altLang="en-US" sz="1200" dirty="0" err="1">
                <a:cs typeface="72" panose="020B0503030000000003" pitchFamily="34" charset="0"/>
              </a:rPr>
              <a:t>gd</a:t>
            </a:r>
            <a:r>
              <a:rPr lang="en-US" altLang="en-US" sz="1200" dirty="0">
                <a:cs typeface="72" panose="020B0503030000000003" pitchFamily="34" charset="0"/>
              </a:rPr>
              <a:t>, </a:t>
            </a:r>
            <a:r>
              <a:rPr lang="en-US" altLang="en-US" sz="1200" dirty="0" err="1">
                <a:cs typeface="72" panose="020B0503030000000003" pitchFamily="34" charset="0"/>
              </a:rPr>
              <a:t>ge</a:t>
            </a:r>
            <a:r>
              <a:rPr lang="en-US" altLang="en-US" sz="1200" dirty="0">
                <a:cs typeface="72" panose="020B0503030000000003" pitchFamily="34" charset="0"/>
              </a:rPr>
              <a:t>, gf, </a:t>
            </a:r>
            <a:r>
              <a:rPr lang="en-US" altLang="en-US" sz="1200" dirty="0" err="1">
                <a:cs typeface="72" panose="020B0503030000000003" pitchFamily="34" charset="0"/>
              </a:rPr>
              <a:t>gh</a:t>
            </a:r>
            <a:r>
              <a:rPr lang="en-US" altLang="en-US" sz="1200" dirty="0">
                <a:cs typeface="72" panose="020B0503030000000003" pitchFamily="34" charset="0"/>
              </a:rPr>
              <a:t>, </a:t>
            </a:r>
            <a:r>
              <a:rPr lang="en-US" altLang="en-US" sz="1200" dirty="0" err="1">
                <a:cs typeface="72" panose="020B0503030000000003" pitchFamily="34" charset="0"/>
              </a:rPr>
              <a:t>gj</a:t>
            </a:r>
            <a:r>
              <a:rPr lang="en-US" altLang="en-US" sz="1200" dirty="0">
                <a:cs typeface="72" panose="020B0503030000000003" pitchFamily="34" charset="0"/>
              </a:rPr>
              <a:t>, </a:t>
            </a:r>
            <a:r>
              <a:rPr lang="en-US" altLang="en-US" sz="1200" dirty="0" err="1">
                <a:cs typeface="72" panose="020B0503030000000003" pitchFamily="34" charset="0"/>
              </a:rPr>
              <a:t>gk</a:t>
            </a:r>
            <a:r>
              <a:rPr lang="en-US" altLang="en-US" sz="1200" dirty="0">
                <a:cs typeface="72" panose="020B0503030000000003" pitchFamily="34" charset="0"/>
              </a:rPr>
              <a:t>, </a:t>
            </a:r>
            <a:r>
              <a:rPr lang="en-US" altLang="en-US" sz="1200" dirty="0" err="1">
                <a:cs typeface="72" panose="020B0503030000000003" pitchFamily="34" charset="0"/>
              </a:rPr>
              <a:t>gi</a:t>
            </a:r>
            <a:r>
              <a:rPr lang="en-US" altLang="en-US" sz="1200" dirty="0">
                <a:cs typeface="72" panose="020B0503030000000003" pitchFamily="34" charset="0"/>
              </a:rPr>
              <a:t>, </a:t>
            </a:r>
            <a:r>
              <a:rPr lang="en-US" altLang="en-US" sz="1200" dirty="0" err="1">
                <a:cs typeface="72" panose="020B0503030000000003" pitchFamily="34" charset="0"/>
              </a:rPr>
              <a:t>gh</a:t>
            </a:r>
            <a:endParaRPr lang="en-US" altLang="en-US" sz="1200" dirty="0">
              <a:cs typeface="72" panose="020B0503030000000003" pitchFamily="34" charset="0"/>
            </a:endParaRPr>
          </a:p>
        </p:txBody>
      </p:sp>
      <p:cxnSp>
        <p:nvCxnSpPr>
          <p:cNvPr id="17" name="Straight Connector 22">
            <a:extLst>
              <a:ext uri="{FF2B5EF4-FFF2-40B4-BE49-F238E27FC236}">
                <a16:creationId xmlns:a16="http://schemas.microsoft.com/office/drawing/2014/main" id="{D2084B2C-9F4C-6134-D5C3-A018699E841C}"/>
              </a:ext>
            </a:extLst>
          </p:cNvPr>
          <p:cNvCxnSpPr>
            <a:cxnSpLocks/>
          </p:cNvCxnSpPr>
          <p:nvPr/>
        </p:nvCxnSpPr>
        <p:spPr>
          <a:xfrm>
            <a:off x="218534" y="4068924"/>
            <a:ext cx="10728000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070F2">
                    <a:lumMod val="5000"/>
                    <a:lumOff val="95000"/>
                  </a:srgbClr>
                </a:gs>
                <a:gs pos="86000">
                  <a:srgbClr val="D5DADD"/>
                </a:gs>
                <a:gs pos="16000">
                  <a:srgbClr val="D5DADD"/>
                </a:gs>
                <a:gs pos="100000">
                  <a:srgbClr val="FFFFFF"/>
                </a:gs>
              </a:gsLst>
              <a:lin ang="0" scaled="1"/>
              <a:tileRect/>
            </a:gra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388C72-4D17-6814-B1AC-7F3079B20B6F}"/>
              </a:ext>
            </a:extLst>
          </p:cNvPr>
          <p:cNvSpPr txBox="1"/>
          <p:nvPr/>
        </p:nvSpPr>
        <p:spPr>
          <a:xfrm>
            <a:off x="281252" y="2022217"/>
            <a:ext cx="64157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175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2:35 pm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E18C21-4474-C071-9A9D-283580E8EB20}"/>
              </a:ext>
            </a:extLst>
          </p:cNvPr>
          <p:cNvCxnSpPr>
            <a:cxnSpLocks/>
          </p:cNvCxnSpPr>
          <p:nvPr/>
        </p:nvCxnSpPr>
        <p:spPr>
          <a:xfrm>
            <a:off x="246468" y="2795232"/>
            <a:ext cx="10728000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070F2">
                    <a:lumMod val="5000"/>
                    <a:lumOff val="95000"/>
                  </a:srgbClr>
                </a:gs>
                <a:gs pos="86000">
                  <a:srgbClr val="D5DADD"/>
                </a:gs>
                <a:gs pos="16000">
                  <a:srgbClr val="D5DADD"/>
                </a:gs>
                <a:gs pos="100000">
                  <a:srgbClr val="FFFFFF"/>
                </a:gs>
              </a:gsLst>
              <a:lin ang="0" scaled="1"/>
              <a:tileRect/>
            </a:gra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14" name="TextBox 28">
            <a:extLst>
              <a:ext uri="{FF2B5EF4-FFF2-40B4-BE49-F238E27FC236}">
                <a16:creationId xmlns:a16="http://schemas.microsoft.com/office/drawing/2014/main" id="{EA4EF201-B15A-0116-B052-AD2E8FAE33BC}"/>
              </a:ext>
            </a:extLst>
          </p:cNvPr>
          <p:cNvSpPr txBox="1"/>
          <p:nvPr/>
        </p:nvSpPr>
        <p:spPr>
          <a:xfrm>
            <a:off x="997038" y="2022217"/>
            <a:ext cx="4666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25 min</a:t>
            </a:r>
            <a:endParaRPr lang="en-DE" sz="1200" kern="0">
              <a:latin typeface="+mn-lt"/>
              <a:cs typeface="Arial Unicode MS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22A1E3-F8CF-59BC-56B9-17882C124CAA}"/>
              </a:ext>
            </a:extLst>
          </p:cNvPr>
          <p:cNvSpPr txBox="1"/>
          <p:nvPr/>
        </p:nvSpPr>
        <p:spPr>
          <a:xfrm>
            <a:off x="5064518" y="2001418"/>
            <a:ext cx="14313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Dominik	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C14E2BDA-0FFD-3351-A6DA-4CBA83A643C7}"/>
              </a:ext>
            </a:extLst>
          </p:cNvPr>
          <p:cNvSpPr txBox="1"/>
          <p:nvPr/>
        </p:nvSpPr>
        <p:spPr>
          <a:xfrm>
            <a:off x="8387577" y="2008796"/>
            <a:ext cx="258772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u="sng" dirty="0">
                <a:latin typeface="+mn-lt"/>
                <a:cs typeface="72" panose="020B0503030000000003" pitchFamily="34" charset="0"/>
              </a:rPr>
              <a:t>ga, </a:t>
            </a:r>
            <a:r>
              <a:rPr lang="en-US" altLang="en-US" sz="1200" u="sng" dirty="0" err="1">
                <a:latin typeface="+mn-lt"/>
                <a:cs typeface="72" panose="020B0503030000000003" pitchFamily="34" charset="0"/>
              </a:rPr>
              <a:t>gb</a:t>
            </a:r>
            <a:r>
              <a:rPr lang="en-US" altLang="en-US" sz="1200" u="sng" dirty="0">
                <a:latin typeface="+mn-lt"/>
                <a:cs typeface="72" panose="020B0503030000000003" pitchFamily="34" charset="0"/>
              </a:rPr>
              <a:t>, </a:t>
            </a:r>
            <a:r>
              <a:rPr lang="en-US" altLang="en-US" sz="1200" u="sng" dirty="0" err="1">
                <a:latin typeface="+mn-lt"/>
                <a:cs typeface="72" panose="020B0503030000000003" pitchFamily="34" charset="0"/>
              </a:rPr>
              <a:t>gc</a:t>
            </a:r>
            <a:endParaRPr lang="en-US" altLang="en-US" sz="1200" dirty="0">
              <a:latin typeface="+mn-lt"/>
              <a:cs typeface="72" panose="020B0503030000000003" pitchFamily="34" charset="0"/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DCE2DC97-5624-EAF2-6A46-E55E5926F9C2}"/>
              </a:ext>
            </a:extLst>
          </p:cNvPr>
          <p:cNvSpPr txBox="1">
            <a:spLocks/>
          </p:cNvSpPr>
          <p:nvPr/>
        </p:nvSpPr>
        <p:spPr>
          <a:xfrm>
            <a:off x="1913058" y="1973442"/>
            <a:ext cx="3405414" cy="78410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gradFill>
                  <a:gsLst>
                    <a:gs pos="0">
                      <a:srgbClr val="0070F2"/>
                    </a:gs>
                    <a:gs pos="100000">
                      <a:srgbClr val="0070F2">
                        <a:lumMod val="75000"/>
                      </a:srgbClr>
                    </a:gs>
                  </a:gsLst>
                  <a:lin ang="0" scaled="1"/>
                </a:gradFill>
                <a:latin typeface="+mn-lt"/>
                <a:cs typeface="72" panose="020B0503030000000003" pitchFamily="34" charset="0"/>
              </a:rPr>
              <a:t>Government Affairs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GA Strategy Update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  <a:cs typeface="72" panose="020B0503030000000003" pitchFamily="34" charset="0"/>
              </a:rPr>
              <a:t>Deep dive: Sovereign Cloud Support &amp; </a:t>
            </a:r>
            <a:br>
              <a:rPr lang="en-US" sz="1200" dirty="0">
                <a:latin typeface="+mn-lt"/>
                <a:cs typeface="72" panose="020B0503030000000003" pitchFamily="34" charset="0"/>
              </a:rPr>
            </a:br>
            <a:r>
              <a:rPr lang="en-US" sz="1200" dirty="0">
                <a:latin typeface="+mn-lt"/>
                <a:cs typeface="72" panose="020B0503030000000003" pitchFamily="34" charset="0"/>
              </a:rPr>
              <a:t>AI Support Strategy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A07E43-064F-0872-85A3-BD1343852547}"/>
              </a:ext>
            </a:extLst>
          </p:cNvPr>
          <p:cNvSpPr txBox="1"/>
          <p:nvPr/>
        </p:nvSpPr>
        <p:spPr>
          <a:xfrm>
            <a:off x="6781835" y="2004788"/>
            <a:ext cx="14313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xa, </a:t>
            </a:r>
            <a:r>
              <a:rPr lang="en-US" altLang="en-US" sz="1200" dirty="0" err="1">
                <a:latin typeface="+mn-lt"/>
                <a:cs typeface="72" panose="020B0503030000000003" pitchFamily="34" charset="0"/>
              </a:rPr>
              <a:t>xb</a:t>
            </a:r>
            <a:r>
              <a:rPr lang="en-US" altLang="en-US" sz="1200" dirty="0">
                <a:latin typeface="+mn-lt"/>
                <a:cs typeface="72" panose="020B0503030000000003" pitchFamily="34" charset="0"/>
              </a:rPr>
              <a:t>, xc</a:t>
            </a:r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3E38B18C-21A8-5E30-D8E2-C233007B0908}"/>
              </a:ext>
            </a:extLst>
          </p:cNvPr>
          <p:cNvSpPr txBox="1"/>
          <p:nvPr/>
        </p:nvSpPr>
        <p:spPr>
          <a:xfrm>
            <a:off x="1586732" y="2808662"/>
            <a:ext cx="1790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gradFill>
                  <a:gsLst>
                    <a:gs pos="0">
                      <a:srgbClr val="0070F2"/>
                    </a:gs>
                    <a:gs pos="100000">
                      <a:srgbClr val="0070F2">
                        <a:lumMod val="75000"/>
                      </a:srgbClr>
                    </a:gs>
                  </a:gsLst>
                  <a:lin ang="0" scaled="1"/>
                </a:gradFill>
                <a:latin typeface="+mn-lt"/>
                <a:cs typeface="72" panose="020B0503030000000003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10D9E2-21AB-9395-1770-A867EEA252A7}"/>
              </a:ext>
            </a:extLst>
          </p:cNvPr>
          <p:cNvSpPr txBox="1"/>
          <p:nvPr/>
        </p:nvSpPr>
        <p:spPr>
          <a:xfrm>
            <a:off x="6775483" y="2881322"/>
            <a:ext cx="14313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cs typeface="72" panose="020B0503030000000003" pitchFamily="34" charset="0"/>
              </a:rPr>
              <a:t>xa, xd, </a:t>
            </a:r>
            <a:r>
              <a:rPr lang="en-US" altLang="en-US" sz="1200" dirty="0" err="1">
                <a:cs typeface="72" panose="020B0503030000000003" pitchFamily="34" charset="0"/>
              </a:rPr>
              <a:t>xe</a:t>
            </a:r>
            <a:r>
              <a:rPr lang="en-US" altLang="en-US" sz="1200" dirty="0">
                <a:cs typeface="72" panose="020B0503030000000003" pitchFamily="34" charset="0"/>
              </a:rPr>
              <a:t>, </a:t>
            </a:r>
            <a:r>
              <a:rPr lang="en-US" altLang="en-US" sz="1200" dirty="0" err="1">
                <a:cs typeface="72" panose="020B0503030000000003" pitchFamily="34" charset="0"/>
              </a:rPr>
              <a:t>xf</a:t>
            </a:r>
            <a:r>
              <a:rPr lang="en-US" altLang="en-US" sz="1200" dirty="0">
                <a:cs typeface="72" panose="020B0503030000000003" pitchFamily="34" charset="0"/>
              </a:rPr>
              <a:t>, </a:t>
            </a:r>
            <a:r>
              <a:rPr lang="en-US" altLang="en-US" sz="1200" dirty="0" err="1">
                <a:cs typeface="72" panose="020B0503030000000003" pitchFamily="34" charset="0"/>
              </a:rPr>
              <a:t>xg</a:t>
            </a:r>
            <a:endParaRPr lang="en-US" altLang="en-US" sz="1200" dirty="0">
              <a:cs typeface="72" panose="020B0503030000000003" pitchFamily="34" charset="0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0A1F008A-4246-E680-9669-B54C90827FC0}"/>
              </a:ext>
            </a:extLst>
          </p:cNvPr>
          <p:cNvSpPr txBox="1">
            <a:spLocks/>
          </p:cNvSpPr>
          <p:nvPr/>
        </p:nvSpPr>
        <p:spPr>
          <a:xfrm>
            <a:off x="1904412" y="4879240"/>
            <a:ext cx="3405414" cy="104103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0000" lvl="1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lang="en-US" sz="1600" dirty="0"/>
            </a:lvl2pPr>
            <a:lvl3pPr marL="360000" lvl="2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600" dirty="0"/>
            </a:lvl3pPr>
            <a:lvl4pPr marL="540000" lvl="3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▫"/>
              <a:defRPr lang="en-US" sz="1600" dirty="0"/>
            </a:lvl4pPr>
            <a:lvl5pPr marL="720000" lvl="4" indent="-18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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 dirty="0">
                <a:latin typeface="+mn-lt"/>
                <a:cs typeface="72" panose="020B0503030000000003" pitchFamily="34" charset="0"/>
              </a:rPr>
              <a:t>Written Update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noProof="0" dirty="0">
                <a:latin typeface="+mn-lt"/>
                <a:cs typeface="72" panose="020B0503030000000003" pitchFamily="34" charset="0"/>
              </a:rPr>
              <a:t>OEC &amp; GR&amp;AS </a:t>
            </a:r>
            <a:endParaRPr lang="en-US" sz="1200" b="1" dirty="0">
              <a:latin typeface="+mn-lt"/>
              <a:cs typeface="72" panose="020B0503030000000003" pitchFamily="34" charset="0"/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+mn-lt"/>
                <a:cs typeface="72" panose="020B0503030000000003" pitchFamily="34" charset="0"/>
              </a:rPr>
              <a:t>Quarterly Update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+mn-lt"/>
              </a:rPr>
              <a:t>SCRI&amp;C </a:t>
            </a:r>
            <a:r>
              <a:rPr lang="en-US" sz="1200" dirty="0">
                <a:latin typeface="+mn-lt"/>
              </a:rPr>
              <a:t>(former </a:t>
            </a:r>
            <a:r>
              <a:rPr lang="en-US" sz="1200" dirty="0">
                <a:latin typeface="+mn-lt"/>
                <a:cs typeface="72" panose="020B0503030000000003" pitchFamily="34" charset="0"/>
              </a:rPr>
              <a:t>D&amp;I and CSR)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  <a:cs typeface="72" panose="020B0503030000000003" pitchFamily="34" charset="0"/>
              </a:rPr>
              <a:t>Strategy and way forward</a:t>
            </a:r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24546C2B-4531-0BFA-A747-D827F51B7093}"/>
              </a:ext>
            </a:extLst>
          </p:cNvPr>
          <p:cNvSpPr txBox="1"/>
          <p:nvPr/>
        </p:nvSpPr>
        <p:spPr>
          <a:xfrm>
            <a:off x="5064518" y="5078998"/>
            <a:ext cx="1764259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Christian, Dominik</a:t>
            </a:r>
          </a:p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endParaRPr lang="en-US" altLang="en-US" sz="1200" dirty="0">
              <a:latin typeface="+mn-lt"/>
              <a:cs typeface="72" panose="020B0503030000000003" pitchFamily="34" charset="0"/>
            </a:endParaRPr>
          </a:p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Gina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5CB6B018-69C1-672A-50EA-675310126031}"/>
              </a:ext>
            </a:extLst>
          </p:cNvPr>
          <p:cNvSpPr txBox="1"/>
          <p:nvPr/>
        </p:nvSpPr>
        <p:spPr>
          <a:xfrm>
            <a:off x="8381630" y="5078998"/>
            <a:ext cx="258772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V. Gordon-Pullar, R. Modess</a:t>
            </a:r>
          </a:p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endParaRPr lang="en-US" altLang="en-US" sz="1200" u="sng" dirty="0">
              <a:latin typeface="+mn-lt"/>
              <a:cs typeface="72" panose="020B0503030000000003" pitchFamily="34" charset="0"/>
            </a:endParaRPr>
          </a:p>
          <a:p>
            <a:pPr fontAlgn="base"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en-US" sz="1200" dirty="0">
                <a:latin typeface="+mn-lt"/>
                <a:cs typeface="72" panose="020B0503030000000003" pitchFamily="34" charset="0"/>
              </a:rPr>
              <a:t>R. Verma</a:t>
            </a:r>
          </a:p>
        </p:txBody>
      </p:sp>
    </p:spTree>
    <p:extLst>
      <p:ext uri="{BB962C8B-B14F-4D97-AF65-F5344CB8AC3E}">
        <p14:creationId xmlns:p14="http://schemas.microsoft.com/office/powerpoint/2010/main" val="42270222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 2023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>
            <a:lumMod val="75000"/>
          </a:schemeClr>
        </a:solidFill>
        <a:ln w="25400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_2023" id="{E0C336FB-8C14-4946-9A4E-21A5D4B5AD48}" vid="{56AE5F8D-7AE6-D749-9D93-DA55A895498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TemplafyTemplateConfiguration><![CDATA[{"elementsMetadata":[{"type":"shape","id":"1df0b5c3-c399-4d80-afa5-baa0f5e07b52","elementConfiguration":{"binding":"{{ DataSources.Classification[Form.Classification.Name].Display}}","type":"text","disableUpdates":false}},{"type":"shape","id":"4730df89-118a-4dac-850a-22582fba25ef","elementConfiguration":{"inheritDimensions":"{{InheritDimensions.InheritNone}}","width":"","height":"1 cm","image":"{{Form.SAPLogo.SubbrandBlue}}","visibility":"","type":"image","disableUpdates":false}},{"type":"shape","id":"3b3005ec-996c-4d76-a358-795127b0f977","elementConfiguration":{"binding":"{{Form.Classification.Display}}","visibility":"","type":"text","disableUpdates":false}},{"type":"shape","id":"4fb6f5d1-82cd-4ab1-ae44-7e64d037ef1d","elementConfiguration":{"binding":"{{Form.Classification.Display}}","visibility":"","type":"text","disableUpdates":false}},{"type":"shape","id":"6e8f8d3c-486c-440f-9e89-010c51d1337f","elementConfiguration":{"inheritDimensions":"{{InheritDimensions.InheritNone}}","width":"","height":"1 cm","image":"{{Form.SAPLogo.SubbrandBlack}}","visibility":"","type":"image","disableUpdates":false}},{"type":"shape","id":"c91d4f96-eb02-4c57-a0e1-338790f88ede","elementConfiguration":{"inheritDimensions":"{{InheritDimensions.InheritNone}}","width":"","height":"1 cm","image":"{{Form.SAPLogo.SubbrandWhite}}","visibility":"","type":"image","disableUpdates":false}},{"type":"shape","id":"54a69f23-ff76-4f65-96bb-a6bf00e9647f","elementConfiguration":{"binding":"{{Form.Classification.Display}}","visibility":"","type":"text","disableUpdates":false}},{"type":"shape","id":"6c7bdae5-f4a4-41ef-bce1-a9de047427a3","elementConfiguration":{"inheritDimensions":"{{InheritDimensions.InheritNone}}","width":"","height":"1 cm","image":"{{Form.SAPLogo.SubbrandBlue}}","visibility":"","type":"image","disableUpdates":false}},{"type":"shape","id":"31826e07-6bd8-46cf-99a6-aba87324adbb","elementConfiguration":{"binding":"{{Form.Classification.Display}}","visibility":"","type":"text","disableUpdates":false}},{"type":"shape","id":"f232a519-5ff6-4053-bb5b-b23e1adaee18","elementConfiguration":{"inheritDimensions":"{{InheritDimensions.InheritNone}}","width":"","height":"1 cm","image":"{{Form.SAPLogo.SubbrandBlue}}","visibility":"","type":"image","disableUpdates":false}},{"type":"shape","id":"27682cf1-0696-470f-9efa-616f4870e8a0","elementConfiguration":{"binding":"{{Form.Classification.Display}}","visibility":"","type":"text","disableUpdates":false}},{"type":"shape","id":"e60c395f-8fa7-41cf-b146-37c7272e7cfb","elementConfiguration":{"inheritDimensions":"{{InheritDimensions.InheritNone}}","width":"","height":"1 cm","image":"{{Form.SAPLogo.SubbrandBlue}}","visibility":"","type":"image","disableUpdates":false}},{"type":"shape","id":"55d87788-2e60-4526-97e4-cc625eeee8de","elementConfiguration":{"binding":"{{Form.Classification.Display}}","visibility":"","type":"text","disableUpdates":false}},{"type":"shape","id":"bbbbfe71-eb37-4ff2-9c3b-eb5f58cbcbf4","elementConfiguration":{"inheritDimensions":"{{InheritDimensions.InheritNone}}","width":"","height":"1 cm","image":"{{Form.SAPLogo.SubbrandWhite}}","visibility":"","type":"image","disableUpdates":false}},{"type":"shape","id":"fb8eac9c-b638-44dd-a22a-7637e30f5e37","elementConfiguration":{"binding":"{{Form.Classification.Display}}","visibility":"","type":"text","disableUpdates":false}},{"type":"shape","id":"eb9adf6b-a999-43b4-87a5-c81e58f16e94","elementConfiguration":{"binding":"{{DataSources.PPTCopyRight[\"Slide 5 copyright\"].CopyrightMessage}}","visibility":"","type":"text","disableUpdates":false}},{"type":"shape","id":"e1ce98cc-b5e7-4d57-bbf2-b85890640f17","elementConfiguration":{"inheritDimensions":"{{InheritDimensions.InheritNone}}","width":"","height":"1 cm","image":"{{Form.SAPLogo.SubbrandBlack}}","visibility":"","type":"image","disableUpdates":false}},{"type":"shape","id":"e21c6111-be2c-44a0-a2aa-df88facd3edb","elementConfiguration":{"binding":"{{Form.Classification.Display}}","visibility":"","type":"text","disableUpdates":false}},{"type":"shape","id":"2de5be2a-d3c3-4ddf-bfce-d8d47df28dbb","elementConfiguration":{"inheritDimensions":"{{InheritDimensions.InheritNone}}","width":"","height":"1 cm","image":"{{Form.SAPLogo.SubbrandWhite}}","visibility":"","type":"image","disableUpdates":false}},{"type":"shape","id":"ae7c7b96-b70f-4e7a-b733-583422dd9c67","elementConfiguration":{"binding":"{{Form.Classification.Display}}","visibility":"","type":"text","disableUpdates":false}},{"type":"shape","id":"c1eb01f2-9e1f-430d-b8b5-2c5ca45c20b6","elementConfiguration":{"inheritDimensions":"{{InheritDimensions.InheritNone}}","width":"","height":"1 cm","image":"{{Form.SAPLogo.SubbrandBlack}}","visibility":"","type":"image","disableUpdates":false}},{"type":"shape","id":"790acb4e-ca71-45a1-a6aa-15bb3a352e16","elementConfiguration":{"binding":"{{Form.Classification.Display}}","visibility":"","type":"text","disableUpdates":false}},{"type":"shape","id":"2fc7f057-0369-4ed6-8a09-948d28d95ffb","elementConfiguration":{"inheritDimensions":"{{InheritDimensions.InheritNone}}","width":"","height":"1 cm","image":"{{Form.SAPLogo.SubbrandWhite}}","visibility":"","type":"image","disableUpdates":false}},{"type":"shape","id":"9c26c798-5a7f-4e71-a771-0737e45e4efe","elementConfiguration":{"binding":"{{Form.Classification.Display}}","visibility":"","type":"text","disableUpdates":false}},{"type":"shape","id":"1c29bb78-5811-4cd4-811f-7882c0a69982","elementConfiguration":{"inheritDimensions":"{{InheritDimensions.InheritNone}}","width":"","height":"1 cm","image":"{{Form.SAPLogo.SubbrandWhite}}","visibility":"","type":"image","disableUpdates":false}},{"type":"shape","id":"58f345ad-7bdb-419e-8713-85ce06a158f4","elementConfiguration":{"binding":"{{Form.Classification.Display}}","visibility":"","type":"text","disableUpdates":false}},{"type":"shape","id":"3fa50bdb-3142-405e-880c-0380db712567","elementConfiguration":{"binding":"{{StringJoin(\", \", Form.SpeakerName,\"SAP\")}}","type":"text","disableUpdates":false}},{"type":"shape","id":"7ba1bdc3-6de1-4200-a6e0-b1800360e955","elementConfiguration":{"binding":"{{FormatDateTime(Form.Date,\"MMMM dd, yyyy\",\"en-US\")}}","type":"text","disableUpdates":false}},{"type":"shape","id":"038d2caa-100a-48e2-a85a-ae9df4466d25","elementConfiguration":{"binding":"{{StringJoin(\", \", Form.SpeakerName,\"SAP\")}}","type":"text","disableUpdates":false}},{"type":"shape","id":"06373794-4453-4ce4-8a0f-1e74545fdebf","elementConfiguration":{"binding":"{{FormatDateTime(Form.Date,\"MMMM dd, yyyy\",\"en-US\")}}","type":"text","disableUpdates":false}},{"type":"shape","id":"17da9310-e182-49c8-9e08-07dbe704575b","elementConfiguration":{"binding":"{{Form.SpeakerName}}","type":"text","disableUpdates":false}},{"type":"shape","id":"a5258a79-f3e0-48a9-bce0-c4a339708677","elementConfiguration":{"binding":"{{Form.Email}}","type":"text","disableUpdates":false}},{"type":"shape","id":"00227b4d-4db8-4a4b-b540-7d73284d492e","elementConfiguration":{"binding":"{{StringJoin(\", \", Form.SpeakerName,\"SAP\")}}","type":"text","disableUpdates":false}},{"type":"shape","id":"f246cb59-7dc1-4e47-aa19-199113a496ad","elementConfiguration":{"binding":"{{FormatDateTime(Form.Date,\"MMMM dd, yyyy\",\"en-US\")}}","type":"text","disableUpdates":false}},{"type":"shape","id":"b3642e98-d784-4710-b703-2415031999c0","elementConfiguration":{"binding":"{{StringJoin(\", \", Form.SpeakerName,\"SAP\")}}","type":"text","disableUpdates":false}},{"type":"shape","id":"b1649ea4-f984-49ae-a3a1-5e732da06700","elementConfiguration":{"binding":"{{FormatDateTime(Form.Date,\"MMMM dd, yyyy\",\"en-US\")}}","type":"text","disableUpdates":false}},{"type":"shape","id":"817f2cac-476f-4f09-9a5b-f65cb78c8457","elementConfiguration":{"binding":"{{StringJoin(\", \", Form.SpeakerName,\"SAP\")}}","type":"text","disableUpdates":false}},{"type":"shape","id":"378927af-789e-478a-98db-01e3a717f61a","elementConfiguration":{"binding":"{{FormatDateTime(Form.Date,\"MMMM dd, yyyy\",\"en-US\")}}","type":"text","disableUpdates":false}},{"type":"shape","id":"f623d31c-4198-4495-bf52-bf36155f6b34","elementConfiguration":{"binding":"{{StringJoin(\", \", Form.SpeakerName,\"SAP\")}}","type":"text","disableUpdates":false}},{"type":"shape","id":"da33ba28-87ff-4f5f-b399-aa059e6b787a","elementConfiguration":{"binding":"{{FormatDateTime(Form.Date,\"MMMM dd, yyyy\",\"en-US\")}}","type":"text","disableUpdates":false}}],"transformationConfigurations":[],"templateName":"SAP Template NEW","templateDescription":"","enableDocumentContentUpdater":true,"version":"2.0"}]]></TemplafyTemplate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321c96-aa1f-4d6b-b8d5-9a7c97d1f18b">
      <Terms xmlns="http://schemas.microsoft.com/office/infopath/2007/PartnerControls"/>
    </lcf76f155ced4ddcb4097134ff3c332f>
    <TaxCatchAll xmlns="505af76e-a5ea-46bb-9697-5481bcb273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9415252ED964DB0AC20F0D37FA457" ma:contentTypeVersion="10" ma:contentTypeDescription="Create a new document." ma:contentTypeScope="" ma:versionID="b4b8cce954a4cb070aa2489477b8be6f">
  <xsd:schema xmlns:xsd="http://www.w3.org/2001/XMLSchema" xmlns:xs="http://www.w3.org/2001/XMLSchema" xmlns:p="http://schemas.microsoft.com/office/2006/metadata/properties" xmlns:ns2="e9321c96-aa1f-4d6b-b8d5-9a7c97d1f18b" xmlns:ns3="505af76e-a5ea-46bb-9697-5481bcb27324" targetNamespace="http://schemas.microsoft.com/office/2006/metadata/properties" ma:root="true" ma:fieldsID="747f837a69b083270b685420945f7f77" ns2:_="" ns3:_="">
    <xsd:import namespace="e9321c96-aa1f-4d6b-b8d5-9a7c97d1f18b"/>
    <xsd:import namespace="505af76e-a5ea-46bb-9697-5481bcb273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21c96-aa1f-4d6b-b8d5-9a7c97d1f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af76e-a5ea-46bb-9697-5481bcb2732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84e75b-e992-4e1f-a82e-c0806e5129c5}" ma:internalName="TaxCatchAll" ma:showField="CatchAllData" ma:web="505af76e-a5ea-46bb-9697-5481bcb273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OmrOP8d402txjl1Zr787gUA6bTWeMdaxGEF9U5BKD64="},{"name":"SpeakerName","value":"YnPwfaWtJd9yqRikMcavEg=="},{"name":"Email","value":"v35+JSpO6F5yjM5PrFdVwQ=="}]}]]></TemplafyFormConfiguration>
</file>

<file path=customXml/item6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],"formDataEntries":[]}]]></TemplafySlideFormConfiguration>
</file>

<file path=customXml/item7.xml><?xml version="1.0" encoding="utf-8"?>
<TemplafySlideTemplateConfiguration><![CDATA[{"slideVersion":1,"isValidatorEnabled":false,"isLocked":false,"elementsMetadata":[{"type":"shape","elementConfiguration":{"inheritDimensions":"{{InheritDimensions.InheritNone}}","width":"","height":"1 cm","image":"{{Form.SAPLogo.SubbrandBlue}}","visibility":"","type":"image","disableUpdates":false}}],"slideId":"130204892923507507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26BBCBB-1894-4E66-BA48-9E91CE3ACBA0}">
  <ds:schemaRefs/>
</ds:datastoreItem>
</file>

<file path=customXml/itemProps2.xml><?xml version="1.0" encoding="utf-8"?>
<ds:datastoreItem xmlns:ds="http://schemas.openxmlformats.org/officeDocument/2006/customXml" ds:itemID="{C1422F45-04DB-421D-8796-270006657806}">
  <ds:schemaRefs>
    <ds:schemaRef ds:uri="http://schemas.microsoft.com/office/2006/documentManagement/types"/>
    <ds:schemaRef ds:uri="http://purl.org/dc/dcmitype/"/>
    <ds:schemaRef ds:uri="4943fcfc-246f-4027-851b-4cbcd5257005"/>
    <ds:schemaRef ds:uri="http://schemas.openxmlformats.org/package/2006/metadata/core-properties"/>
    <ds:schemaRef ds:uri="http://schemas.microsoft.com/office/infopath/2007/PartnerControls"/>
    <ds:schemaRef ds:uri="72c4fbca-764e-4145-a301-62bdeeac6272"/>
    <ds:schemaRef ds:uri="http://purl.org/dc/terms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30A94E5-15ED-430F-BDAF-4A7D37097A15}"/>
</file>

<file path=customXml/itemProps5.xml><?xml version="1.0" encoding="utf-8"?>
<ds:datastoreItem xmlns:ds="http://schemas.openxmlformats.org/officeDocument/2006/customXml" ds:itemID="{CC49FFC8-2FF3-4057-96F0-3BCD1A4F0351}">
  <ds:schemaRefs/>
</ds:datastoreItem>
</file>

<file path=customXml/itemProps6.xml><?xml version="1.0" encoding="utf-8"?>
<ds:datastoreItem xmlns:ds="http://schemas.openxmlformats.org/officeDocument/2006/customXml" ds:itemID="{19D9C71E-0CB0-4937-8938-CC125788C36A}">
  <ds:schemaRefs/>
</ds:datastoreItem>
</file>

<file path=customXml/itemProps7.xml><?xml version="1.0" encoding="utf-8"?>
<ds:datastoreItem xmlns:ds="http://schemas.openxmlformats.org/officeDocument/2006/customXml" ds:itemID="{83CF5554-3921-4126-AB80-0CCBDF0138E7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 2023</Template>
  <TotalTime>330</TotalTime>
  <Words>341</Words>
  <Application>Microsoft Office PowerPoint</Application>
  <PresentationFormat>Custom</PresentationFormat>
  <Paragraphs>66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72 Brand Medium</vt:lpstr>
      <vt:lpstr>72 Brand</vt:lpstr>
      <vt:lpstr>Arial</vt:lpstr>
      <vt:lpstr>Arial Unicode MS</vt:lpstr>
      <vt:lpstr>Symbol</vt:lpstr>
      <vt:lpstr>72</vt:lpstr>
      <vt:lpstr>Roboto</vt:lpstr>
      <vt:lpstr>Wingdings</vt:lpstr>
      <vt:lpstr>Wingdings</vt:lpstr>
      <vt:lpstr>Courier New</vt:lpstr>
      <vt:lpstr>SAP Template 2023</vt:lpstr>
      <vt:lpstr>Agenda</vt:lpstr>
      <vt:lpstr>SAP Executive Board Meeting | January 16, 2026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 and Here and Here</dc:title>
  <dc:subject/>
  <dc:creator>Herr, Katharina</dc:creator>
  <cp:keywords>2023/16:9/white</cp:keywords>
  <dc:description/>
  <cp:lastModifiedBy>Decker, Marc</cp:lastModifiedBy>
  <cp:revision>3</cp:revision>
  <cp:lastPrinted>2025-10-16T15:43:02Z</cp:lastPrinted>
  <dcterms:created xsi:type="dcterms:W3CDTF">2023-10-24T06:24:52Z</dcterms:created>
  <dcterms:modified xsi:type="dcterms:W3CDTF">2026-04-09T11:45:10Z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1101452479</vt:i4>
  </property>
  <property fmtid="{D5CDD505-2E9C-101B-9397-08002B2CF9AE}" pid="3" name="_NewReviewCycle">
    <vt:lpwstr/>
  </property>
  <property fmtid="{D5CDD505-2E9C-101B-9397-08002B2CF9AE}" pid="4" name="_EmailSubject">
    <vt:lpwstr>SAP - PPT Exploration (Updated)</vt:lpwstr>
  </property>
  <property fmtid="{D5CDD505-2E9C-101B-9397-08002B2CF9AE}" pid="5" name="_AuthorEmail">
    <vt:lpwstr>heidi.bitz@sap.com</vt:lpwstr>
  </property>
  <property fmtid="{D5CDD505-2E9C-101B-9397-08002B2CF9AE}" pid="6" name="_AuthorEmailDisplayName">
    <vt:lpwstr>Bitz, Heidi</vt:lpwstr>
  </property>
  <property fmtid="{D5CDD505-2E9C-101B-9397-08002B2CF9AE}" pid="7" name="_PreviousAdHocReviewCycleID">
    <vt:i4>1357826825</vt:i4>
  </property>
  <property fmtid="{D5CDD505-2E9C-101B-9397-08002B2CF9AE}" pid="8" name="ContentTypeId">
    <vt:lpwstr>0x0101001869415252ED964DB0AC20F0D37FA457</vt:lpwstr>
  </property>
  <property fmtid="{D5CDD505-2E9C-101B-9397-08002B2CF9AE}" pid="9" name="TemplafyTimeStamp">
    <vt:lpwstr>2023-10-17T07:10:10</vt:lpwstr>
  </property>
  <property fmtid="{D5CDD505-2E9C-101B-9397-08002B2CF9AE}" pid="10" name="TemplafyTenantId">
    <vt:lpwstr>sap</vt:lpwstr>
  </property>
  <property fmtid="{D5CDD505-2E9C-101B-9397-08002B2CF9AE}" pid="11" name="TemplafyTemplateId">
    <vt:lpwstr>743088030174412800</vt:lpwstr>
  </property>
  <property fmtid="{D5CDD505-2E9C-101B-9397-08002B2CF9AE}" pid="12" name="TemplafyUserProfileId">
    <vt:lpwstr>637653955260011855</vt:lpwstr>
  </property>
  <property fmtid="{D5CDD505-2E9C-101B-9397-08002B2CF9AE}" pid="13" name="TemplafyLanguageCode">
    <vt:lpwstr>en-US</vt:lpwstr>
  </property>
  <property fmtid="{D5CDD505-2E9C-101B-9397-08002B2CF9AE}" pid="14" name="TemplafyFromBlank">
    <vt:bool>false</vt:bool>
  </property>
  <property fmtid="{D5CDD505-2E9C-101B-9397-08002B2CF9AE}" pid="15" name="MediaServiceImageTags">
    <vt:lpwstr/>
  </property>
</Properties>
</file>